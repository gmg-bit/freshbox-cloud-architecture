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 DEFENSA ORAL (10 MINUTOS):</a:t>
            </a:r>
          </a:p>
          <a:p>
            <a:r>
              <a:t>1 minuto: Saludo, presentación personal, caso de negocio de FreshBox SpA (40% de crecimiento trimestral) y necesidad de modernizar la infraestructura hacia EKS y RDS Multi-AZ.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 DEFENSA ORAL (10 MINUTOS):</a:t>
            </a:r>
          </a:p>
          <a:p>
            <a:r>
              <a:t>Destacar los 3 problemas críticos: gestión manual por SSH sin self-healing, escalamiento rígido por instancia completa, y MySQL en EC2 como punto único de falla (SPOF) sin failover.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 DEFENSA ORAL (10 MINUTOS):</a:t>
            </a:r>
          </a:p>
          <a:p>
            <a:r>
              <a:t>Explicar la matriz comparativa: costos, operación, recuperación ante fallas y escalabilidad. La inversión se justifica en TCO global.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 DEFENSA ORAL (10 MINUTOS):</a:t>
            </a:r>
          </a:p>
          <a:p>
            <a:r>
              <a:t>2 minutos: Explicar el diagrama. Subredes públicas /25 con ALB y NAT. Subredes privadas App con EKS y 10 pods. Subredes privadas Data con RDS Multi-AZ. Security Groups encadenados.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 DEFENSA ORAL (10 MINUTOS):</a:t>
            </a:r>
          </a:p>
          <a:p>
            <a:r>
              <a:t>Mencionar los 5 microservicios con 2 réplicas cada uno (10 pods). Nginx actúa como API Gateway enrutando métodos HTTP internamente.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 DEFENSA ORAL (10 MINUTOS):</a:t>
            </a:r>
          </a:p>
          <a:p>
            <a:r>
              <a:t>4 minutos: Demostración en vivo en AWS Console y CLI. Mostrar: 1. Cluster EKS activo. 2. kubectl get nodes y pods (10 pods running). 3. RDS Multi-AZ activo. 4. CRUD funcional via curl o navegador.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 DEFENSA ORAL (10 MINUTOS):</a:t>
            </a:r>
          </a:p>
          <a:p>
            <a:r>
              <a:t>2 minutos: Mostrar kubectl get hpa. Explicar cómo el HPA escala ante picos de carga al 70% CPU. Mostrar Container Insights con telemetría.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 DEFENSA ORAL (10 MINUTOS):</a:t>
            </a:r>
          </a:p>
          <a:p>
            <a:r>
              <a:t>1 minuto: Cerrar destacando el cumplimiento del 100% de los indicadores de la rúbrica (IL3.1, IL3.2, IL3.3) y la preparación para el crecimiento.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4C78"/>
                </a:solidFill>
              </a:defRPr>
            </a:pPr>
            <a:r>
              <a:t>FreshBox SpA — Modernización Cloud EA2</a:t>
            </a:r>
          </a:p>
          <a:p>
            <a:pPr>
              <a:defRPr sz="1400" i="1">
                <a:solidFill>
                  <a:srgbClr val="2E7559"/>
                </a:solidFill>
              </a:defRPr>
            </a:pPr>
            <a:r>
              <a:t>Orquestación con Amazon EKS y Servicios PaaS con Amazon RDS Multi-AZ</a:t>
            </a:r>
            <a:br/>
            <a:r>
              <a:t>Evaluación Parcial 2 (EP2) | ARY1102 Arquitectura Cloud | DuocUC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Estudiante: Gaston Mardones González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Docente Diseñador: Ignacio A. Pastenet M.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Carrera: Ingeniería en Informática / Conectividad y Redes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Caso: FreshBox SpA — Expansión de E-Commerce Orgánico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4C78"/>
                </a:solidFill>
              </a:defRPr>
            </a:pPr>
            <a:r>
              <a:t>1. Diagnóstico y Necesidad de Modernización (1 Min)</a:t>
            </a:r>
          </a:p>
          <a:p>
            <a:pPr>
              <a:defRPr sz="1400" i="1">
                <a:solidFill>
                  <a:srgbClr val="2E7559"/>
                </a:solidFill>
              </a:defRPr>
            </a:pPr>
            <a:r>
              <a:t>Limitaciones de la Arquitectura Base (EA1) frente al 40% de Crecimiento Trimestral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Gestión Manual de Contenedores (Docker en EC2): Sin autorreparación automática ante fallos de procesos.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Escalamiento No Granular: Para escalar un microservicio era necesario duplicar toda la instancia EC2.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Base de Datos sin Alta Disponibilidad Nativa: MySQL en EC2 constituía un SPOF con RTO de horas.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Elevada Carga Operativa: El 65% del tiempo de TI se consumía en parchado de SO y scripts artesanales.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Objetivo TO-BE: Cero downtime, RTO &lt; 60s, RPO = 0, y microservicios elásticos gestionados por Kubernetes.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4C78"/>
                </a:solidFill>
              </a:defRPr>
            </a:pPr>
            <a:r>
              <a:t>2. Comparativa Integral de Modelos Arquitectónicos</a:t>
            </a:r>
          </a:p>
          <a:p>
            <a:pPr>
              <a:defRPr sz="1400" i="1">
                <a:solidFill>
                  <a:srgbClr val="2E7559"/>
                </a:solidFill>
              </a:defRPr>
            </a:pPr>
            <a:r>
              <a:t>IaaS Tradicional vs Orquestación Cloud-Native (EKS) + Servicios Gestionados (RDS PaaS)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Autorreparación (Self-Healing): EKS reemplaza pods caídos en milisegundos sin intervención humana.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Escalamiento Elástico: HPA escala réplicas de pods de 2 a 5 al superar el 70% de CPU.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Despliegues Continuos: Rolling updates en Kubernetes garantizan cero tiempo de caída para el usuario.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Resiliencia de Datos: Replicación síncrona en dos zonas con failover automático en menos de un minuto.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Eficiencia FinOps: Procesadores AWS Graviton (ARM64 t4g.small) entregan 40% mejor rendimiento por dólar.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4C78"/>
                </a:solidFill>
              </a:defRPr>
            </a:pPr>
            <a:r>
              <a:t>3. Topología de Arquitectura TO-BE en 3 Capas (2 Min)</a:t>
            </a:r>
          </a:p>
          <a:p>
            <a:pPr>
              <a:defRPr sz="1400" i="1">
                <a:solidFill>
                  <a:srgbClr val="2E7559"/>
                </a:solidFill>
              </a:defRPr>
            </a:pPr>
            <a:r>
              <a:t>Diseño en AWS con Segmentación de Red Estricta en dos Zonas de Disponibilidad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Capa 1 (Pública /25): Application Load Balancer (ALB Ingress) e Internet Gateway + NAT Gateway en us-east-1a.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Capa 2 (Privada Aplicación /25): Clúster Amazon EKS 1.30 con Node Group Multi-AZ (2 a 4 instancias t4g.small).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Capa 3 (Privada Datos /25): Amazon RDS MySQL 8.0 db.t4g.small Multi-AZ (Primaria en 1a, Standby en 1b).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Seguridad Perimetral: SG-ALB (80/443) -&gt; SG-EKS-Nodes (80, 3001-3004) -&gt; SG-RDS (3306).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Cifrado en Reposo: Volúmenes EBS de EKS y almacenamiento gp3 de RDS cifrados con AES-256 KMS.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4C78"/>
                </a:solidFill>
              </a:defRPr>
            </a:pPr>
            <a:r>
              <a:t>4. Ecosistema de Microservicios en Kubernetes (10 Pods)</a:t>
            </a:r>
          </a:p>
          <a:p>
            <a:pPr>
              <a:defRPr sz="1400" i="1">
                <a:solidFill>
                  <a:srgbClr val="2E7559"/>
                </a:solidFill>
              </a:defRPr>
            </a:pPr>
            <a:r>
              <a:t>Estructura de Deployments, Services ClusterIP y Enrutamiento Inteligente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frontend (2 pods): Nginx + HTML/JS; enruta internamente por verbo HTTP vía ClusterIP.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get-products (2 pods): Node.js/Express puerto 3001; consulta el catálogo en RDS MySQL.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create-product (2 pods): Node.js/Express puerto 3002; registra nuevos productos orgánicos.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update-product (2 pods): Node.js/Express puerto 3003; actualiza stock y precios por ID.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delete-product (2 pods): Node.js/Express puerto 3004; elimina productos del inventario.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Desacoplamiento: Credenciales en Kubernetes Secrets (Base64) y endpoints en ConfigMaps.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4C78"/>
                </a:solidFill>
              </a:defRPr>
            </a:pPr>
            <a:r>
              <a:t>5. Demostración Técnica en Vivo: AWS Academy Learner Lab (4 Min)</a:t>
            </a:r>
          </a:p>
          <a:p>
            <a:pPr>
              <a:defRPr sz="1400" i="1">
                <a:solidFill>
                  <a:srgbClr val="2E7559"/>
                </a:solidFill>
              </a:defRPr>
            </a:pPr>
            <a:r>
              <a:t>Evidencias Prácticas de Infraestructura Operativa y Validación del CRUD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Consola EKS: freshbox-cluster en estado ACTIVE con Node Group de 2 nodos t4g.small Ready.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Kubernetes CLI: kubectl get pods -n freshbox mostrando los 10 pods en estado Running.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Consola RDS: freshbox-db con Multi-AZ activado (us-east-1a primaria, us-east-1b secundaria).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Validación CRUD: GET (listado catálogo), POST (crear producto), PUT (actualizar stock), DELETE (eliminar).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Enrutamiento ALB Ingress: Acceso web y consumo de API a través del hostname DNS público del balanceador.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4C78"/>
                </a:solidFill>
              </a:defRPr>
            </a:pPr>
            <a:r>
              <a:t>6. Automatización, Escalamiento (HPA) y Observabilidad (2 Min)</a:t>
            </a:r>
          </a:p>
          <a:p>
            <a:pPr>
              <a:defRPr sz="1400" i="1">
                <a:solidFill>
                  <a:srgbClr val="2E7559"/>
                </a:solidFill>
              </a:defRPr>
            </a:pPr>
            <a:r>
              <a:t>Resiliencia Operacional con Horizontal Pod Autoscaler y CloudWatch Container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HPA en Acción: Monitoreo constante de CPU; escalamiento dinámico de 2 a 5 pods ante carga sostenida.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Protección contra Saturation: Requests (100m) y Limits (250m) impiden que un pod consuma todo el nodo.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CloudWatch Container Insights: Visibilidad métrica profunda de rendimiento por pod, nodo y namespace.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Infraestructura como Código: Despliegue automatizado con Terraform y pipeline CI/CD en GitHub Actions.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Zero Downtime: Capacidad de actualizar microservicios sin interrumpir compras de los usuarios.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4C78"/>
                </a:solidFill>
              </a:defRPr>
            </a:pPr>
            <a:r>
              <a:t>7. Conclusiones y Cumplimiento de la Evaluación (1 Min)</a:t>
            </a:r>
          </a:p>
          <a:p>
            <a:pPr>
              <a:defRPr sz="1400" i="1">
                <a:solidFill>
                  <a:srgbClr val="2E7559"/>
                </a:solidFill>
              </a:defRPr>
            </a:pPr>
            <a:r>
              <a:t>Impacto Transformacional en FreshBox SpA y Siguientes Pasos de Evolución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Cumplimiento 100%: Diseño e implementación de clúster EKS, RDS Multi-AZ, HPA, ALB Ingress y CRUD funcional.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Resiliencia Empresarial: Eliminación de puntos únicos de fallo y garantía de continuidad de negocio.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Ahorro Operacional: 85% menos tiempo de administración de servidores; foco en la experiencia del cliente.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Hoja de Ruta Futura: Integración de AWS Secrets Manager, Service Mesh (mTLS) y CDN CloudFront con S3.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•  ¡Muchas gracias! Preguntas y Retroalimentación.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