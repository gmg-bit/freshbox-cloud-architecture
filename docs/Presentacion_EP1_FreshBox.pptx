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2B788"/>
                </a:solidFill>
              </a:defRPr>
            </a:pPr>
            <a:r>
              <a:t>DUOC UC — ARQUITECTURA CLOUD (ARY1102)</a:t>
            </a:r>
          </a:p>
          <a:p>
            <a:pPr>
              <a:spcAft>
                <a:spcPts val="2000"/>
              </a:spcAft>
              <a:defRPr sz="3600" b="1">
                <a:solidFill>
                  <a:srgbClr val="1B4332"/>
                </a:solidFill>
              </a:defRPr>
            </a:pPr>
            <a:r>
              <a:t>FreshBox SpA: Arquitectura Cloud Moderna</a:t>
            </a:r>
            <a:br/>
            <a:r>
              <a:t>con ECS Fargate, Terraform y CI/CD</a:t>
            </a:r>
          </a:p>
          <a:p>
            <a:pPr>
              <a:spcAft>
                <a:spcPts val="3000"/>
              </a:spcAft>
              <a:defRPr sz="1600">
                <a:solidFill>
                  <a:srgbClr val="646464"/>
                </a:solidFill>
              </a:defRPr>
            </a:pPr>
            <a:r>
              <a:t>Defensa Técnica y Demostración en Vivo en AWS Academy</a:t>
            </a:r>
            <a:br/>
            <a:r>
              <a:t>Diseño TO-BE de 3 Capas Multi-AZ | Evaluación Parcial N°1 (EP1)</a:t>
            </a:r>
          </a:p>
          <a:p>
            <a:pPr>
              <a:defRPr sz="1300" b="1">
                <a:solidFill>
                  <a:srgbClr val="2D6A4F"/>
                </a:solidFill>
              </a:defRPr>
            </a:pPr>
            <a:r>
              <a:t>Estudiante: Arquitecto Cloud  |  Docente: Diseñador Curricular  |  Año: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1. CONTEXTO &amp; NEGOCIO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Diagnóstico Empresarial: FreshBox SpA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Crecimiento Acelerado:</a:t>
            </a:r>
            <a:r>
              <a:rPr sz="1600">
                <a:solidFill>
                  <a:srgbClr val="1E1E1E"/>
                </a:solidFill>
              </a:rPr>
              <a:t> FreshBox experimenta un incremento del 40% trimestral en ventas online de productos orgánicos en la RM.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Problema Actual:</a:t>
            </a:r>
            <a:r>
              <a:rPr sz="1600">
                <a:solidFill>
                  <a:srgbClr val="1E1E1E"/>
                </a:solidFill>
              </a:rPr>
              <a:t> Plataforma monolítica sin elasticidad, con riesgos de caída ante picos de demanda y altos costos fijos de administración.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Objetivo del Negocio:</a:t>
            </a:r>
            <a:r>
              <a:rPr sz="1600">
                <a:solidFill>
                  <a:srgbClr val="1E1E1E"/>
                </a:solidFill>
              </a:rPr>
              <a:t> Modernizar el catálogo online hacia una infraestructura cloud escalable, segura y de alta disponibilidad.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Rol del Arquitecto Cloud:</a:t>
            </a:r>
            <a:r>
              <a:rPr sz="1600">
                <a:solidFill>
                  <a:srgbClr val="1E1E1E"/>
                </a:solidFill>
              </a:rPr>
              <a:t> Alinear las decisiones tecnológicas con las metas financieras (OPEX) y la continuidad operacional.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Propuesta de Valor:</a:t>
            </a:r>
            <a:r>
              <a:rPr sz="1600">
                <a:solidFill>
                  <a:srgbClr val="1E1E1E"/>
                </a:solidFill>
              </a:rPr>
              <a:t> Migración hacia contenedores Serverless (ECS Fargate) e Infraestructura como Código (Terraform) con despliegue continuo.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2. REQUERIMIENTOS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Levantamiento y Priorización de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RF01 - Catálogo CRUD (Alta):</a:t>
            </a:r>
            <a:r>
              <a:rPr sz="1500">
                <a:solidFill>
                  <a:srgbClr val="1E1E1E"/>
                </a:solidFill>
              </a:rPr>
              <a:t> Visualización, adición, modificación y eliminación de productos orgánicos en tiempo real.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RNF01 - Alta Disponibilidad Multi-AZ (Alta):</a:t>
            </a:r>
            <a:r>
              <a:rPr sz="1500">
                <a:solidFill>
                  <a:srgbClr val="1E1E1E"/>
                </a:solidFill>
              </a:rPr>
              <a:t> Tolerancia a fallos distribuyendo tráfico en múltiples Zonas de Disponibilidad (99.9% uptime).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RNF02 - Escalabilidad Elástica (Alta):</a:t>
            </a:r>
            <a:r>
              <a:rPr sz="1500">
                <a:solidFill>
                  <a:srgbClr val="1E1E1E"/>
                </a:solidFill>
              </a:rPr>
              <a:t> Capacidad de escalar microservicios automáticamente sin aprovisionamiento manual de servidores.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RNF03 - Seguridad Perimetral por Capas (Alta):</a:t>
            </a:r>
            <a:r>
              <a:rPr sz="1500">
                <a:solidFill>
                  <a:srgbClr val="1E1E1E"/>
                </a:solidFill>
              </a:rPr>
              <a:t> Aislamiento estricto de red: capa pública (ALB), privada (App) y datos (MySQL).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RNF04 - Infraestructura Reproducible (Media):</a:t>
            </a:r>
            <a:r>
              <a:rPr sz="1500">
                <a:solidFill>
                  <a:srgbClr val="1E1E1E"/>
                </a:solidFill>
              </a:rPr>
              <a:t> Aprovisionamiento 100% automatizado mediante Terraform (IaC) para evitar desvíos manuales.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2D6A4F"/>
                </a:solidFill>
              </a:rPr>
              <a:t>• RNF05 - Respaldo y Continuidad (Media):</a:t>
            </a:r>
            <a:r>
              <a:rPr sz="1500">
                <a:solidFill>
                  <a:srgbClr val="1E1E1E"/>
                </a:solidFill>
              </a:rPr>
              <a:t> Copias de seguridad diarias de la base de datos mediante AWS Backup con retención de 7 días.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3. MODELO CLOUD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Selección y Justificación del Modelo de Nube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Modelo Seleccionado: Nube Pública (AWS)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Justificación Financiera (OPEX vs CAPEX):</a:t>
            </a:r>
            <a:r>
              <a:rPr sz="1600">
                <a:solidFill>
                  <a:srgbClr val="1E1E1E"/>
                </a:solidFill>
              </a:rPr>
              <a:t> Sin inversión en hardware inicial. Pago por uso exacto mediante Fargate, eliminando costos por instancias ociosas.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Justificación Técnica:</a:t>
            </a:r>
            <a:r>
              <a:rPr sz="1600">
                <a:solidFill>
                  <a:srgbClr val="1E1E1E"/>
                </a:solidFill>
              </a:rPr>
              <a:t> Acceso inmediato a servicios gestionados nativos (ECS, ALB, ECR, AWS Backup) con redundancia Multi-AZ nativa.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Justificación Estratégica:</a:t>
            </a:r>
            <a:r>
              <a:rPr sz="1600">
                <a:solidFill>
                  <a:srgbClr val="1E1E1E"/>
                </a:solidFill>
              </a:rPr>
              <a:t> Time-to-market inmediato. El equipo de TI se enfoca en el desarrollo de funcionalidades de negocio en lugar de mantenimiento físico.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Comparación Frente a Alternativas:</a:t>
            </a:r>
            <a:r>
              <a:rPr sz="1600">
                <a:solidFill>
                  <a:srgbClr val="1E1E1E"/>
                </a:solidFill>
              </a:rPr>
              <a:t> On-Premise requeriría alto capital y meses de implementación; Híbrida generaría complejidad innecesaria para una startup digital.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4. ARQUITECTURA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Topología de Arquitectura TO-BE (3 Capas Multi-AZ)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Capa 1: Web / Pública (Multi-AZ):</a:t>
            </a:r>
            <a:r>
              <a:rPr sz="1600">
                <a:solidFill>
                  <a:srgbClr val="1E1E1E"/>
                </a:solidFill>
              </a:rPr>
              <a:t> 2 subredes públicas con Internet Gateway y Application Load Balancer (ALB) expuesto a Internet en puerto 80.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Capa 2: Aplicación / Privada (Multi-AZ):</a:t>
            </a:r>
            <a:r>
              <a:rPr sz="1600">
                <a:solidFill>
                  <a:srgbClr val="1E1E1E"/>
                </a:solidFill>
              </a:rPr>
              <a:t> 2 subredes privadas con NAT Gateway, alojando ECS Fargate Tasks (5 microservicios en contenedor).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Capa 3: Datos / Privada (Multi-AZ):</a:t>
            </a:r>
            <a:r>
              <a:rPr sz="1600">
                <a:solidFill>
                  <a:srgbClr val="1E1E1E"/>
                </a:solidFill>
              </a:rPr>
              <a:t> 2 subredes privadas aisladas para la persistencia de datos (EC2 MySQL t3.small) con AWS Backup.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Flujo de Comunicación:</a:t>
            </a:r>
            <a:r>
              <a:rPr sz="1600">
                <a:solidFill>
                  <a:srgbClr val="1E1E1E"/>
                </a:solidFill>
              </a:rPr>
              <a:t> Cliente (HTTP) → ALB (Puerto 80) → Nginx Reverse Proxy (Puerto 80) → Microservicios Locales (Puertos 3001-3004) → MySQL (Puerto 3306).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Innovación del Diseño:</a:t>
            </a:r>
            <a:r>
              <a:rPr sz="1600">
                <a:solidFill>
                  <a:srgbClr val="1E1E1E"/>
                </a:solidFill>
              </a:rPr>
              <a:t> Despliegue Serverless con Fargate en vez de administración tradicional de servidores EC2 para aplicaciones.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5. SEGURIDAD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Aislamiento de Red y Seguridad Perimetral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Segmentación de Red:</a:t>
            </a:r>
            <a:r>
              <a:rPr sz="1500">
                <a:solidFill>
                  <a:srgbClr val="1E1E1E"/>
                </a:solidFill>
              </a:rPr>
              <a:t> VPC 10.0.0.0/22 dividida en 6 subredes (/26) segregadas estrictamente por función y zona de disponibilidad.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Security Groups Encadenados:</a:t>
            </a:r>
            <a:r>
              <a:rPr sz="1500">
                <a:solidFill>
                  <a:srgbClr val="1E1E1E"/>
                </a:solidFill>
              </a:rPr>
              <a:t> Modelo de privilegios mínimos donde cada capa solo autoriza tráfico desde el Security Group predecesor: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   1. SG-ALB:</a:t>
            </a:r>
            <a:r>
              <a:rPr sz="1500">
                <a:solidFill>
                  <a:srgbClr val="1E1E1E"/>
                </a:solidFill>
              </a:rPr>
              <a:t> Inbound TCP 80 desde 0.0.0.0/0 (Internet).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   2. SG-APP (Fargate):</a:t>
            </a:r>
            <a:r>
              <a:rPr sz="1500">
                <a:solidFill>
                  <a:srgbClr val="1E1E1E"/>
                </a:solidFill>
              </a:rPr>
              <a:t> Inbound TCP 80 únicamente referenciando como origen al SG-ALB.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   3. SG-DATA (MySQL):</a:t>
            </a:r>
            <a:r>
              <a:rPr sz="1500">
                <a:solidFill>
                  <a:srgbClr val="1E1E1E"/>
                </a:solidFill>
              </a:rPr>
              <a:t> Inbound TCP 3306 únicamente referenciando como origen al SG-APP.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4332"/>
                </a:solidFill>
              </a:rPr>
              <a:t>• Cifrado y Protección:</a:t>
            </a:r>
            <a:r>
              <a:rPr sz="1500">
                <a:solidFill>
                  <a:srgbClr val="1E1E1E"/>
                </a:solidFill>
              </a:rPr>
              <a:t> Volúmenes EBS cifrados para MySQL, escaneo automático de vulnerabilidades en ECR y comunicación privada sin IPs públicas.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6. CÓMPUTO SERVERLESS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Microservicios en Contenedores: Patrón Sidecar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5 Contenedores Docker:</a:t>
            </a:r>
            <a:r>
              <a:rPr sz="1600">
                <a:solidFill>
                  <a:srgbClr val="1E1E1E"/>
                </a:solidFill>
              </a:rPr>
              <a:t> Frontend (Nginx Alpine) + 4 Microservicios Backend en Node.js 18 (Get, Create, Update, Delete Products).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Patrón Sidecar en ECS Fargate:</a:t>
            </a:r>
            <a:r>
              <a:rPr sz="1600">
                <a:solidFill>
                  <a:srgbClr val="1E1E1E"/>
                </a:solidFill>
              </a:rPr>
              <a:t> Los 5 contenedores cohabitan en una única Task Definition, compartiendo red interna de alto rendimiento (localhost).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Nginx como API Gateway:</a:t>
            </a:r>
            <a:r>
              <a:rPr sz="1600">
                <a:solidFill>
                  <a:srgbClr val="1E1E1E"/>
                </a:solidFill>
              </a:rPr>
              <a:t> Nginx recibe en el puerto 80 y rutea inteligentemente por método HTTP internamente (GET→3001, POST→3002, PUT→3003, DELETE→3004).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Ventajas de este Patrón:</a:t>
            </a:r>
            <a:r>
              <a:rPr sz="1600">
                <a:solidFill>
                  <a:srgbClr val="1E1E1E"/>
                </a:solidFill>
              </a:rPr>
              <a:t> Cero complejidad de Service Discovery, menor latencia inter-servicios y un único Target Group en el Load Balancer.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Dimensionamiento Óptimo:</a:t>
            </a:r>
            <a:r>
              <a:rPr sz="1600">
                <a:solidFill>
                  <a:srgbClr val="1E1E1E"/>
                </a:solidFill>
              </a:rPr>
              <a:t> 1 vCPU (1024) y 2 GB RAM (2048) compartidos dinámicamente entre los 5 contenedores.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7. AUTOMATIZACIÓN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Infraestructura como Código (Terraform) y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Terraform (IaC):</a:t>
            </a:r>
            <a:r>
              <a:rPr sz="1600">
                <a:solidFill>
                  <a:srgbClr val="1E1E1E"/>
                </a:solidFill>
              </a:rPr>
              <a:t> 100% de la infraestructura AWS codificada en HCL modular (VPC, Subnets, SGs, ECR, ECS, ALB, EC2, Backup).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Idempotencia y Reproducibilidad:</a:t>
            </a:r>
            <a:r>
              <a:rPr sz="1600">
                <a:solidFill>
                  <a:srgbClr val="1E1E1E"/>
                </a:solidFill>
              </a:rPr>
              <a:t> Capacidad de destruir y reconstruir el entorno completo en minutos, garantizando coherencia sin desvíos manuales.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Pipeline GitHub Actions:</a:t>
            </a:r>
            <a:r>
              <a:rPr sz="1600">
                <a:solidFill>
                  <a:srgbClr val="1E1E1E"/>
                </a:solidFill>
              </a:rPr>
              <a:t> Automatización CI/CD que compila las 5 imágenes Docker, las sube a Amazon ECR y ejecuta terraform apply de forma segura.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Control de Versiones Profesional:</a:t>
            </a:r>
            <a:r>
              <a:rPr sz="1600">
                <a:solidFill>
                  <a:srgbClr val="1E1E1E"/>
                </a:solidFill>
              </a:rPr>
              <a:t> Repositorio GitHub con separación clara: /terraform, /app, /docs, /.github con documentación README completa.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B4332"/>
                </a:solidFill>
              </a:rPr>
              <a:t>• Compatibilidad con Learner Lab:</a:t>
            </a:r>
            <a:r>
              <a:rPr sz="1600">
                <a:solidFill>
                  <a:srgbClr val="1E1E1E"/>
                </a:solidFill>
              </a:rPr>
              <a:t> Integración nativa utilizando el rol preexistente LabRole y LabInstanceProfile.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8. CONFIABILIDAD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Alta Disponibilidad, Resiliencia y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Application Load Balancer Multi-AZ:</a:t>
            </a:r>
            <a:r>
              <a:rPr sz="1600">
                <a:solidFill>
                  <a:srgbClr val="1E1E1E"/>
                </a:solidFill>
              </a:rPr>
              <a:t> Distribución balanceada de carga entre las zonas us-east-1a y us-east-1b.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Redundancia de Tareas ECS:</a:t>
            </a:r>
            <a:r>
              <a:rPr sz="1600">
                <a:solidFill>
                  <a:srgbClr val="1E1E1E"/>
                </a:solidFill>
              </a:rPr>
              <a:t> Configuración desired_count = 2 para mantener réplicas activas simultáneas con auto-recuperación ante fallos.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Health Checks Automatizados:</a:t>
            </a:r>
            <a:r>
              <a:rPr sz="1600">
                <a:solidFill>
                  <a:srgbClr val="1E1E1E"/>
                </a:solidFill>
              </a:rPr>
              <a:t> Sondeo continuo en /health para drenar y reemplazar inmediatamente contenedores con errores.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Plan de Respaldo (AWS Backup):</a:t>
            </a:r>
            <a:r>
              <a:rPr sz="1600">
                <a:solidFill>
                  <a:srgbClr val="1E1E1E"/>
                </a:solidFill>
              </a:rPr>
              <a:t> Snapshot diario automático del volumen de la base de datos con retención de 7 días para recuperación rápida (DR).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2D6A4F"/>
                </a:solidFill>
              </a:rPr>
              <a:t>• Alineación Well-Architected:</a:t>
            </a:r>
            <a:r>
              <a:rPr sz="1600">
                <a:solidFill>
                  <a:srgbClr val="1E1E1E"/>
                </a:solidFill>
              </a:rPr>
              <a:t> Cumplimiento de los 6 pilares: Excelencia Operacional, Seguridad, Confiabilidad, Rendimiento, Costos y Sostenibilidad.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9. DEMO EN VIVO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Estructura de la Demostración en Vivo (AWS Console)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500">
                <a:solidFill>
                  <a:srgbClr val="1B4332"/>
                </a:solidFill>
              </a:rPr>
              <a:t>• Minuto 1-3 | Red y Seguridad:</a:t>
            </a:r>
            <a:r>
              <a:rPr sz="1500">
                <a:solidFill>
                  <a:srgbClr val="1E1E1E"/>
                </a:solidFill>
              </a:rPr>
              <a:t> Mostrar en Consola AWS la VPC /22, las 6 subredes Multi-AZ y las reglas de los 3 Security Groups encadenados.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B4332"/>
                </a:solidFill>
              </a:rPr>
              <a:t>• Minuto 4-5 | Cómputo y Contenedores:</a:t>
            </a:r>
            <a:r>
              <a:rPr sz="1500">
                <a:solidFill>
                  <a:srgbClr val="1E1E1E"/>
                </a:solidFill>
              </a:rPr>
              <a:t> Exhibir el Cluster ECS, la Task Definition activa con los 5 contenedores en ejecución y los repositorios en ECR.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B4332"/>
                </a:solidFill>
              </a:rPr>
              <a:t>• Minuto 6-8 | Validación Funcional CRUD (Web):</a:t>
            </a:r>
            <a:r>
              <a:rPr sz="1500">
                <a:solidFill>
                  <a:srgbClr val="1E1E1E"/>
                </a:solidFill>
              </a:rPr>
              <a:t> Abrir el DNS del ALB en el navegador web: listar productos, registrar nuevo producto, editar y eliminar.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B4332"/>
                </a:solidFill>
              </a:rPr>
              <a:t>• Minuto 9 | Verificación End-to-End:</a:t>
            </a:r>
            <a:r>
              <a:rPr sz="1500">
                <a:solidFill>
                  <a:srgbClr val="1E1E1E"/>
                </a:solidFill>
              </a:rPr>
              <a:t> Demostrar la persistencia directa en la base de datos MySQL (Capa 3) y el plan activo en AWS Backup.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B4332"/>
                </a:solidFill>
              </a:rPr>
              <a:t>• Minuto 10 | Conclusión y Ronda de Preguntas:</a:t>
            </a:r>
            <a:r>
              <a:rPr sz="1500">
                <a:solidFill>
                  <a:srgbClr val="1E1E1E"/>
                </a:solidFill>
              </a:rPr>
              <a:t> Resumen de beneficios de la arquitectura Serverless e infraestructura como código.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2B788"/>
                </a:solidFill>
              </a:defRPr>
            </a:pPr>
            <a:r>
              <a:t>10. CONCLUSIONES</a:t>
            </a:r>
          </a:p>
          <a:p>
            <a:pPr>
              <a:defRPr sz="2400" b="1">
                <a:solidFill>
                  <a:srgbClr val="1B4332"/>
                </a:solidFill>
              </a:defRPr>
            </a:pPr>
            <a:r>
              <a:t>Conclusiones y Hoja de Ruta (Fase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2D6A4F"/>
                </a:solidFill>
              </a:rPr>
              <a:t>• Logro de Objetivos:</a:t>
            </a:r>
            <a:r>
              <a:rPr sz="1600">
                <a:solidFill>
                  <a:srgbClr val="1E1E1E"/>
                </a:solidFill>
              </a:rPr>
              <a:t> La arquitectura propuesta resuelve el cuello de botella de FreshBox, garantizando escalabilidad ante el 40% de crecimiento.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2D6A4F"/>
                </a:solidFill>
              </a:rPr>
              <a:t>• Diferenciador Técnico:</a:t>
            </a:r>
            <a:r>
              <a:rPr sz="1600">
                <a:solidFill>
                  <a:srgbClr val="1E1E1E"/>
                </a:solidFill>
              </a:rPr>
              <a:t> Evolución desde EC2 tradicional hacia ECS Fargate Serverless + Terraform + GitHub Actions.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2D6A4F"/>
                </a:solidFill>
              </a:rPr>
              <a:t>• Optimización Financiera:</a:t>
            </a:r>
            <a:r>
              <a:rPr sz="1600">
                <a:solidFill>
                  <a:srgbClr val="1E1E1E"/>
                </a:solidFill>
              </a:rPr>
              <a:t> Modelo 100% OPEX con costos mensuales controlados entre  y  USD.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2D6A4F"/>
                </a:solidFill>
              </a:rPr>
              <a:t>• Hoja de Ruta / Fase 2:</a:t>
            </a:r>
            <a:r>
              <a:rPr sz="1600">
                <a:solidFill>
                  <a:srgbClr val="1E1E1E"/>
                </a:solidFill>
              </a:rPr>
              <a:t> Migración de base de datos a Amazon RDS MySQL Multi-AZ, distribución de contenido estático con CloudFront + S3 y gestión de credenciales con AWS Secrets Manager.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